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1B3A4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377440" cy="2377440"/>
          </a:xfrm>
          <a:prstGeom prst="ellipse">
            <a:avLst/>
          </a:prstGeom>
          <a:solidFill>
            <a:srgbClr val="E887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•  TECHNICAL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Failures in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Vision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causes, real-world incidents, and structured engineering solutions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31750">
            <a:solidFill>
              <a:srgbClr val="E88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(ITA05)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failures in autonomous vision systems, identifying causes and presenting structured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/home/claude/ppt2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Failure Analysis Matters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of vision errors in autonomy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9" name="Image 1" descr="/home/claude/ppt2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89133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743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Failure Causes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model, integration &amp; human layers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3" name="Image 2" descr="/home/claude/ppt2/icons/x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061765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Uber ATG, 2018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misclassification &amp; braking failure chain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5111496"/>
            <a:ext cx="502920" cy="50292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7" name="Image 3" descr="/home/claude/ppt2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232197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084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Tesla Autopilot, 2016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5404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perception failure against bright sky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3D6E8C"/>
          </a:solidFill>
          <a:ln/>
        </p:spPr>
      </p:sp>
      <p:pic>
        <p:nvPicPr>
          <p:cNvPr id="21" name="Image 4" descr="/home/claude/ppt2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61" y="172090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9516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Patterns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995160" y="1892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technical root causes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09360" y="2770632"/>
            <a:ext cx="502920" cy="502920"/>
          </a:xfrm>
          <a:prstGeom prst="ellipse">
            <a:avLst/>
          </a:prstGeom>
          <a:solidFill>
            <a:srgbClr val="3D6E8C"/>
          </a:solidFill>
          <a:ln/>
        </p:spPr>
      </p:sp>
      <p:pic>
        <p:nvPicPr>
          <p:cNvPr id="25" name="Image 5" descr="/home/claude/ppt2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289133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2743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Solutions Framework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99516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safeguards, layer by layer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309360" y="3941064"/>
            <a:ext cx="502920" cy="502920"/>
          </a:xfrm>
          <a:prstGeom prst="ellipse">
            <a:avLst/>
          </a:prstGeom>
          <a:solidFill>
            <a:srgbClr val="3D6E8C"/>
          </a:solidFill>
          <a:ln/>
        </p:spPr>
      </p:sp>
      <p:pic>
        <p:nvPicPr>
          <p:cNvPr id="29" name="Image 6" descr="/home/claude/ppt2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061" y="4061765"/>
            <a:ext cx="261518" cy="26151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95160" y="39136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Cause-to-Mitigation Map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699516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fixes to failure types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309360" y="5111496"/>
            <a:ext cx="502920" cy="502920"/>
          </a:xfrm>
          <a:prstGeom prst="ellipse">
            <a:avLst/>
          </a:prstGeom>
          <a:solidFill>
            <a:srgbClr val="3D6E8C"/>
          </a:solidFill>
          <a:ln/>
        </p:spPr>
      </p:sp>
      <p:pic>
        <p:nvPicPr>
          <p:cNvPr id="33" name="Image 7" descr="/home/claude/ppt2/icons/tre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061" y="5232197"/>
            <a:ext cx="261518" cy="26151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5084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35" name="Text 25"/>
          <p:cNvSpPr/>
          <p:nvPr/>
        </p:nvSpPr>
        <p:spPr>
          <a:xfrm>
            <a:off x="6995160" y="5404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for safer vision systems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Failure Analysis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0" cy="4892040"/>
          </a:xfrm>
          <a:prstGeom prst="rect">
            <a:avLst>
              <a:gd name="adj" fmla="val 1495"/>
            </a:avLst>
          </a:prstGeom>
          <a:solidFill>
            <a:srgbClr val="EEF2F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vision systems (self-driving cars, drones, robots) make safety-critical decisions from camera and sensor data. When perception fails, the consequences are physical and often irreversible — unlike a mis-tagged photo, a mis-classified pedestrian.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documented failures — not to assign blame, but to trace the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failure chain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how the field builds more robust perception, redundancy, and fail-safes.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3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treats two well-documented, publicly investigated incidents as engineering case studies — focusing strictly on the technical and systemic causes identified by official investigators.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Is Rarely One Thing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937760" cy="960120"/>
          </a:xfrm>
          <a:prstGeom prst="roundRect">
            <a:avLst>
              <a:gd name="adj" fmla="val 8571"/>
            </a:avLst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93392"/>
            <a:ext cx="621792" cy="621792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1" name="Image 0" descr="/home/claude/ppt2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782" y="2142622"/>
            <a:ext cx="323332" cy="3233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1947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98080" y="2304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Camera/LiDAR/radar misses or misreads the scene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37960" y="2944368"/>
            <a:ext cx="4937760" cy="960120"/>
          </a:xfrm>
          <a:prstGeom prst="roundRect">
            <a:avLst>
              <a:gd name="adj" fmla="val 8571"/>
            </a:avLst>
          </a:prstGeom>
          <a:solidFill>
            <a:srgbClr val="1B3A4B"/>
          </a:solidFill>
          <a:ln/>
        </p:spPr>
      </p:sp>
      <p:sp>
        <p:nvSpPr>
          <p:cNvPr id="15" name="Shape 12"/>
          <p:cNvSpPr/>
          <p:nvPr/>
        </p:nvSpPr>
        <p:spPr>
          <a:xfrm>
            <a:off x="6702552" y="3108960"/>
            <a:ext cx="621792" cy="621792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6" name="Image 1" descr="/home/claude/ppt2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782" y="3258190"/>
            <a:ext cx="323332" cy="3233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498080" y="34198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misclassifies or loses track of an object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537960" y="4059936"/>
            <a:ext cx="4937760" cy="960120"/>
          </a:xfrm>
          <a:prstGeom prst="roundRect">
            <a:avLst>
              <a:gd name="adj" fmla="val 8571"/>
            </a:avLst>
          </a:prstGeom>
          <a:solidFill>
            <a:srgbClr val="1B3A4B"/>
          </a:solidFill>
          <a:ln/>
        </p:spPr>
      </p:sp>
      <p:sp>
        <p:nvSpPr>
          <p:cNvPr id="20" name="Shape 16"/>
          <p:cNvSpPr/>
          <p:nvPr/>
        </p:nvSpPr>
        <p:spPr>
          <a:xfrm>
            <a:off x="6702552" y="4224528"/>
            <a:ext cx="621792" cy="621792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1" name="Image 2" descr="/home/claude/ppt2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782" y="4373758"/>
            <a:ext cx="323332" cy="3233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0" y="4178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Control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498080" y="4535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delays or fails to act on what it detected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537960" y="5175504"/>
            <a:ext cx="4937760" cy="960120"/>
          </a:xfrm>
          <a:prstGeom prst="roundRect">
            <a:avLst>
              <a:gd name="adj" fmla="val 8571"/>
            </a:avLst>
          </a:prstGeom>
          <a:solidFill>
            <a:srgbClr val="163242"/>
          </a:solidFill>
          <a:ln/>
        </p:spPr>
      </p:sp>
      <p:sp>
        <p:nvSpPr>
          <p:cNvPr id="25" name="Shape 20"/>
          <p:cNvSpPr/>
          <p:nvPr/>
        </p:nvSpPr>
        <p:spPr>
          <a:xfrm>
            <a:off x="6702552" y="5340096"/>
            <a:ext cx="621792" cy="621792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6" name="Image 3" descr="/home/claude/ppt2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782" y="5489326"/>
            <a:ext cx="323332" cy="3233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5294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Process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498080" y="5650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Oversight, testing, or operator gaps compound it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Taxonomy of Failure Causes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where autonomous vision pipelines break 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96596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6" name="Image 0" descr="/home/claude/ppt2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Sensor-Level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1248" y="3465576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3101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&amp; poor lighting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" y="4123944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96849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degradation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" y="4782312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6268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blind spots / range limits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0" y="169164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15" name="Shape 12"/>
          <p:cNvSpPr/>
          <p:nvPr/>
        </p:nvSpPr>
        <p:spPr>
          <a:xfrm>
            <a:off x="4434840" y="196596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6" name="Image 1" descr="/home/claude/ppt2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30552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3675888" y="3465576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9" name="Text 15"/>
          <p:cNvSpPr/>
          <p:nvPr/>
        </p:nvSpPr>
        <p:spPr>
          <a:xfrm>
            <a:off x="3840480" y="33101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75888" y="4123944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1" name="Text 17"/>
          <p:cNvSpPr/>
          <p:nvPr/>
        </p:nvSpPr>
        <p:spPr>
          <a:xfrm>
            <a:off x="3840480" y="396849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/ long-tail objects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75888" y="4782312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3" name="Text 19"/>
          <p:cNvSpPr/>
          <p:nvPr/>
        </p:nvSpPr>
        <p:spPr>
          <a:xfrm>
            <a:off x="3840480" y="46268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instability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309360" y="169164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196596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6" name="Image 2" descr="/home/claude/ppt2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130552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4652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Integration-Level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6510528" y="3465576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9" name="Text 24"/>
          <p:cNvSpPr/>
          <p:nvPr/>
        </p:nvSpPr>
        <p:spPr>
          <a:xfrm>
            <a:off x="6675120" y="33101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conflicts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510528" y="4123944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1" name="Text 26"/>
          <p:cNvSpPr/>
          <p:nvPr/>
        </p:nvSpPr>
        <p:spPr>
          <a:xfrm>
            <a:off x="6675120" y="396849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decision loop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510528" y="4782312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3" name="Text 28"/>
          <p:cNvSpPr/>
          <p:nvPr/>
        </p:nvSpPr>
        <p:spPr>
          <a:xfrm>
            <a:off x="6675120" y="46268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not triggered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144000" y="169164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35" name="Shape 30"/>
          <p:cNvSpPr/>
          <p:nvPr/>
        </p:nvSpPr>
        <p:spPr>
          <a:xfrm>
            <a:off x="10104120" y="196596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36" name="Image 3" descr="/home/claude/ppt2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130552"/>
            <a:ext cx="356616" cy="35661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28116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Process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9345168" y="3465576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9" name="Text 33"/>
          <p:cNvSpPr/>
          <p:nvPr/>
        </p:nvSpPr>
        <p:spPr>
          <a:xfrm>
            <a:off x="9509760" y="33101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complacency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9345168" y="4123944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1" name="Text 35"/>
          <p:cNvSpPr/>
          <p:nvPr/>
        </p:nvSpPr>
        <p:spPr>
          <a:xfrm>
            <a:off x="9509760" y="396849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safety oversight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9345168" y="4782312"/>
            <a:ext cx="64008" cy="6400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3" name="Text 37"/>
          <p:cNvSpPr/>
          <p:nvPr/>
        </p:nvSpPr>
        <p:spPr>
          <a:xfrm>
            <a:off x="9509760" y="462686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edge-case testing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2018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ATG Test Vehicle, Tempe, Arizona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/home/claude/ppt2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1670" y="700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test vehicle struck a pedestrian crossing outside a crosswalk at night. The NTSB investigation identified a chain of technical and procedural failures, not a single cause.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2468880" cy="260604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/>
        </p:spPr>
      </p:sp>
      <p:sp>
        <p:nvSpPr>
          <p:cNvPr id="8" name="Shape 5"/>
          <p:cNvSpPr/>
          <p:nvPr/>
        </p:nvSpPr>
        <p:spPr>
          <a:xfrm>
            <a:off x="1600200" y="2441448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9" name="Image 1" descr="/home/claude/ppt2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74" y="257312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but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672" y="3593592"/>
            <a:ext cx="21396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detected the pedestrian ~6 seconds before impact, but oscillated between labeling her as an unknown object, a vehicle, and a bicycle.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 rot="5400000">
            <a:off x="3136392" y="3424428"/>
            <a:ext cx="256032" cy="237744"/>
          </a:xfrm>
          <a:prstGeom prst="triangle">
            <a:avLst/>
          </a:prstGeom>
          <a:solidFill>
            <a:srgbClr val="E8873A"/>
          </a:solidFill>
          <a:ln/>
        </p:spPr>
      </p:sp>
      <p:sp>
        <p:nvSpPr>
          <p:cNvPr id="13" name="Shape 9"/>
          <p:cNvSpPr/>
          <p:nvPr/>
        </p:nvSpPr>
        <p:spPr>
          <a:xfrm>
            <a:off x="3429000" y="2240280"/>
            <a:ext cx="2468880" cy="2606040"/>
          </a:xfrm>
          <a:prstGeom prst="roundRect">
            <a:avLst>
              <a:gd name="adj" fmla="val 3333"/>
            </a:avLst>
          </a:prstGeom>
          <a:solidFill>
            <a:srgbClr val="163242"/>
          </a:solidFill>
          <a:ln/>
        </p:spPr>
      </p:sp>
      <p:sp>
        <p:nvSpPr>
          <p:cNvPr id="14" name="Shape 10"/>
          <p:cNvSpPr/>
          <p:nvPr/>
        </p:nvSpPr>
        <p:spPr>
          <a:xfrm>
            <a:off x="4389120" y="2441448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5" name="Image 2" descr="/home/claude/ppt2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94" y="257312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Braking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93592" y="3593592"/>
            <a:ext cx="21396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determined braking was required only 1.3 seconds before impact — too late to stop.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 rot="5400000">
            <a:off x="5925312" y="3424428"/>
            <a:ext cx="256032" cy="237744"/>
          </a:xfrm>
          <a:prstGeom prst="triangle">
            <a:avLst/>
          </a:prstGeom>
          <a:solidFill>
            <a:srgbClr val="E8873A"/>
          </a:solidFill>
          <a:ln/>
        </p:spPr>
      </p:sp>
      <p:sp>
        <p:nvSpPr>
          <p:cNvPr id="19" name="Shape 14"/>
          <p:cNvSpPr/>
          <p:nvPr/>
        </p:nvSpPr>
        <p:spPr>
          <a:xfrm>
            <a:off x="6217920" y="2240280"/>
            <a:ext cx="2468880" cy="260604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/>
        </p:spPr>
      </p:sp>
      <p:sp>
        <p:nvSpPr>
          <p:cNvPr id="20" name="Shape 15"/>
          <p:cNvSpPr/>
          <p:nvPr/>
        </p:nvSpPr>
        <p:spPr>
          <a:xfrm>
            <a:off x="7178040" y="2441448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1" name="Image 3" descr="/home/claude/ppt2/icons/x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714" y="257312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Braking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82512" y="3593592"/>
            <a:ext cx="21396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vehicle's automatic emergency braking was disabled during autonomous testing to avoid erratic driving behavior.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 rot="5400000">
            <a:off x="8714232" y="3424428"/>
            <a:ext cx="256032" cy="237744"/>
          </a:xfrm>
          <a:prstGeom prst="triangle">
            <a:avLst/>
          </a:prstGeom>
          <a:solidFill>
            <a:srgbClr val="E8873A"/>
          </a:solidFill>
          <a:ln/>
        </p:spPr>
      </p:sp>
      <p:sp>
        <p:nvSpPr>
          <p:cNvPr id="25" name="Shape 19"/>
          <p:cNvSpPr/>
          <p:nvPr/>
        </p:nvSpPr>
        <p:spPr>
          <a:xfrm>
            <a:off x="9006840" y="2240280"/>
            <a:ext cx="2468880" cy="2606040"/>
          </a:xfrm>
          <a:prstGeom prst="roundRect">
            <a:avLst>
              <a:gd name="adj" fmla="val 3333"/>
            </a:avLst>
          </a:prstGeom>
          <a:solidFill>
            <a:srgbClr val="163242"/>
          </a:solidFill>
          <a:ln/>
        </p:spPr>
      </p:sp>
      <p:sp>
        <p:nvSpPr>
          <p:cNvPr id="26" name="Shape 20"/>
          <p:cNvSpPr/>
          <p:nvPr/>
        </p:nvSpPr>
        <p:spPr>
          <a:xfrm>
            <a:off x="9966960" y="2441448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7" name="Image 4" descr="/home/claude/ppt2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634" y="257312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98280" y="30815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Not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71432" y="3593592"/>
            <a:ext cx="21396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operator, whose role was to intervene, was found to be distracted in the moments before the crash.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40080" y="4956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NTSB Highway Accident Report HAR-19/03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2016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Autopilot, Williston, Florida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/home/claude/ppt2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1670" y="700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in Autopilot mode drove full speed under a tractor-trailer that crossed its path. Neither the camera-radar system nor the driver reacted in time.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cause: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side of the trailer, set against a brightly lit sky, produced very low visual contrast — a scenario the camera-based perception system had not been trained to handle reliably, and radar was tuned to ignore overhead-like returns to avoid false braking on road signs.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16324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407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Textbook Case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crash illustrates a pure perception edge case: no occlusion, no bad weather — just a rare visual condition outside the system's effective training distribution, compounded by driver over-reliance on a Level 2 system.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3796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Chain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37960" y="19659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EF2F4"/>
          </a:solidFill>
          <a:ln/>
        </p:spPr>
      </p:sp>
      <p:sp>
        <p:nvSpPr>
          <p:cNvPr id="13" name="Shape 10"/>
          <p:cNvSpPr/>
          <p:nvPr/>
        </p:nvSpPr>
        <p:spPr>
          <a:xfrm>
            <a:off x="6702552" y="2084832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4" name="Image 1" descr="/home/claude/ppt2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226" y="221650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19659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trailer against bright sky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 rot="10800000">
            <a:off x="8869680" y="2761488"/>
            <a:ext cx="274320" cy="201168"/>
          </a:xfrm>
          <a:prstGeom prst="triangle">
            <a:avLst/>
          </a:prstGeom>
          <a:solidFill>
            <a:srgbClr val="3D6E8C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7960" y="2953512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EF2F4"/>
          </a:solidFill>
          <a:ln/>
        </p:spPr>
      </p:sp>
      <p:sp>
        <p:nvSpPr>
          <p:cNvPr id="18" name="Shape 14"/>
          <p:cNvSpPr/>
          <p:nvPr/>
        </p:nvSpPr>
        <p:spPr>
          <a:xfrm>
            <a:off x="6702552" y="3072384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9" name="Image 2" descr="/home/claude/ppt2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26" y="3204058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06640" y="2953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fails to distinguish trailer from sky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8869680" y="3749040"/>
            <a:ext cx="274320" cy="201168"/>
          </a:xfrm>
          <a:prstGeom prst="triangle">
            <a:avLst/>
          </a:prstGeom>
          <a:solidFill>
            <a:srgbClr val="3D6E8C"/>
          </a:solidFill>
          <a:ln/>
        </p:spPr>
      </p:sp>
      <p:sp>
        <p:nvSpPr>
          <p:cNvPr id="22" name="Shape 17"/>
          <p:cNvSpPr/>
          <p:nvPr/>
        </p:nvSpPr>
        <p:spPr>
          <a:xfrm>
            <a:off x="6537960" y="3941064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EF2F4"/>
          </a:solidFill>
          <a:ln/>
        </p:spPr>
      </p:sp>
      <p:sp>
        <p:nvSpPr>
          <p:cNvPr id="23" name="Shape 18"/>
          <p:cNvSpPr/>
          <p:nvPr/>
        </p:nvSpPr>
        <p:spPr>
          <a:xfrm>
            <a:off x="6702552" y="4059936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24" name="Image 3" descr="/home/claude/ppt2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226" y="4191610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394106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filters out the signal as a false positive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 rot="10800000">
            <a:off x="8869680" y="4736592"/>
            <a:ext cx="274320" cy="201168"/>
          </a:xfrm>
          <a:prstGeom prst="triangle">
            <a:avLst/>
          </a:prstGeom>
          <a:solidFill>
            <a:srgbClr val="3D6E8C"/>
          </a:solidFill>
          <a:ln/>
        </p:spPr>
      </p:sp>
      <p:sp>
        <p:nvSpPr>
          <p:cNvPr id="27" name="Shape 21"/>
          <p:cNvSpPr/>
          <p:nvPr/>
        </p:nvSpPr>
        <p:spPr>
          <a:xfrm>
            <a:off x="6537960" y="4928616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EF2F4"/>
          </a:solidFill>
          <a:ln/>
        </p:spPr>
      </p:sp>
      <p:sp>
        <p:nvSpPr>
          <p:cNvPr id="28" name="Shape 22"/>
          <p:cNvSpPr/>
          <p:nvPr/>
        </p:nvSpPr>
        <p:spPr>
          <a:xfrm>
            <a:off x="6702552" y="5047488"/>
            <a:ext cx="548640" cy="54864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9" name="Image 4" descr="/home/claude/ppt2/icons/x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226" y="5179162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06640" y="492861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braking — vehicle passes under trailer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537960" y="59618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NHTSA PE 16-007 / NTSB HAR-17/02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 Patterns Across Incidents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technical root causes seen across autonomous vision failures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EF2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6" name="Image 0" descr="/home/claude/ppt2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scenes (rare lighting, unusual objects) fall outside the range of training data, causing confident but wrong predictions.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EF2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1" name="Image 1" descr="/home/claude/ppt2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Instability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label for the same object flickers frame-to-frame, delaying a confident decision until it's too late to act.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EF2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6" name="Image 2" descr="/home/claude/ppt2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292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/ Occlusion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that blend into background (white-on-white, low light) reduce feature signal below detection thresholds.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EF2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21" name="Image 3" descr="/home/claude/ppt2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292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Over-Conservative Filtering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tuned to suppress false positives (e.g. ignoring overhead-like radar returns) can also suppress true positives.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Solutions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safeguards mapped to each failure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6" name="Image 0" descr="/home/claude/ppt2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Redundancy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5204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camera, LiDAR, and radar so no single sensor's blind spot becomes the system's blind spot.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1" name="Image 1" descr="/home/claude/ppt2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26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75888" y="35204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models on rare, adversarial, and long-tail scenarios before deployment, not just common cases.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6" name="Image 2" descr="/home/claude/ppt2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926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Defaults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10528" y="35204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logic to default to caution (slow/stop) when confidence is low, rather than proceeding.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173736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13304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0412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1" name="Image 3" descr="/home/claude/ppt2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2219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926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Design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45168" y="35204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operators genuinely engaged — through task design and monitoring — wherever a human back-up is required.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48640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1B3A4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486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buNone/>
            </a:pPr>
            <a:r>
              <a:rPr lang="en-US" sz="13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comes from layered defenses — no single fix prevents every failure mode.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Cause-to-Mitigation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each failure cause to its structured engineering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7442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8076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Mitigation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744200" cy="777240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blind spot / low contrast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21031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+ confidence-aware perception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7442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80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instability / distribution 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880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Expanded, adversarial &amp; long-tail training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744200" cy="777240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missing braking decision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3657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defaults + tighter latency budgets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7442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34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safety systems during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4434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safety case &amp; staged rollout governance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744200" cy="777240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12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inattention / complacency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monitoring + realistic operator workload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for Safer Vision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engineering teams take from these incidents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304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6" name="Image 0" descr="/home/claude/ppt2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sensor, model, or safeguard should be a single point of failure for a safety-critical decision.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3043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1" name="Image 1" descr="/home/claude/ppt2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Tail, Not Just the Mean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Average-case accuracy hides the rare scenarios that cause real incidents — edge cases must be explicitly sought out.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3043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2057400"/>
            <a:ext cx="685800" cy="6858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6" name="Image 2" descr="/home/claude/ppt2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Real Human Behavior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operators will get complacent; build monitoring and task design around that reality, not around ideal attention.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800600"/>
            <a:ext cx="10744200" cy="1371600"/>
          </a:xfrm>
          <a:prstGeom prst="roundRect">
            <a:avLst>
              <a:gd name="adj" fmla="val 5333"/>
            </a:avLst>
          </a:prstGeom>
          <a:solidFill>
            <a:srgbClr val="1B3A4B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8006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autonomous vision expands into vehicles, drones, and robotics, structured post-incident analysis — paired with proactive edge-case testing — remains the clearest path to systems that fail safely rather than fail silently.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840480" cy="3840480"/>
          </a:xfrm>
          <a:prstGeom prst="ellipse">
            <a:avLst/>
          </a:prstGeom>
          <a:solidFill>
            <a:srgbClr val="1B3A4B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5" name="Image 0" descr="/home/claude/ppt2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vision failures are almost never one bug — they're a chain across sensing, perception, decision, and human oversight.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8" name="Image 1" descr="/home/claude/ppt2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243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688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Uber ATG and 2016 Tesla Autopilot incidents show how classification instability and low-contrast perception gaps become fatal without fail-safes.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1" name="Image 2" descr="/home/claude/ppt2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387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832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solutions — redundancy, edge-case testing, fail-safe defaults, and real human-factors design — address each layer specifically.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4" name="Image 3" descr="/home/claude/ppt2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4531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2976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layered, ongoing engineering discipline, not a single fix applied once.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5577840"/>
            <a:ext cx="1280160" cy="0"/>
          </a:xfrm>
          <a:prstGeom prst="line">
            <a:avLst/>
          </a:prstGeom>
          <a:noFill/>
          <a:ln w="31750">
            <a:solidFill>
              <a:srgbClr val="E8873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Autonomous Vision Systems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2026-07-16T03:37:17Z</dcterms:created>
  <dcterms:modified xsi:type="dcterms:W3CDTF">2026-07-16T03:37:17Z</dcterms:modified>
</cp:coreProperties>
</file>